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 (Millions)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2023</c:v>
                  </c:pt>
                  <c:pt idx="2">
                    <c:v>2025</c:v>
                  </c:pt>
                  <c:pt idx="3">
                    <c:v>2027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10.5</c:v>
                </c:pt>
                <c:pt idx="2">
                  <c:v>14.2</c:v>
                </c:pt>
                <c:pt idx="3">
                  <c:v>18.8</c:v>
                </c:pt>
                <c:pt idx="4">
                  <c:v>23.5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029200" cy="5029200"/>
          </a:xfrm>
          <a:prstGeom prst="ellipse">
            <a:avLst/>
          </a:prstGeom>
          <a:solidFill>
            <a:srgbClr val="0D4A42">
              <a:alpha val="35000"/>
            </a:srgbClr>
          </a:solidFill>
          <a:ln w="12700">
            <a:solidFill>
              <a:srgbClr val="0D4A4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645920"/>
            <a:ext cx="2926080" cy="29260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1A3D6B">
              <a:alpha val="30000"/>
            </a:srgbClr>
          </a:solidFill>
          <a:ln w="12700">
            <a:solidFill>
              <a:srgbClr val="1A3D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64592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/mnt/user-data/uploads/177321733618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"/>
            <a:ext cx="192024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115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502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SHRAMIK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11480" y="126187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411480" y="21762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Skill Meets Trust. Where Work Earns Dignity.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1480" y="2697480"/>
            <a:ext cx="54864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834640"/>
            <a:ext cx="2194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 ·  Social Innovation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0" y="2834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Identity for Labor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32644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Laba Kumar 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1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78608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78608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78608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2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807208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78608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45736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45736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45736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974336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45736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12864" y="3703320"/>
            <a:ext cx="2011680" cy="118872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12864" y="3703320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12864" y="3767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4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141464" y="4279392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12864" y="4315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11480" y="48646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Internship Project  ·  2025–26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Shramik-Profile?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economy employs over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workers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domestic workers, plumbers, guards, cooks, and electricians who are the backbone of daily life.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Yet, not one of them carries a verifiable professional identity. They are skilled, essential — and completely invisible to formal systems.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Shramik-Profile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secure digital platform that gives every informal worker a portable, phone-linked profile with employer-verified ratings — their first-ever Digital Trust Resume.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188720"/>
            <a:ext cx="64008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23560" y="1755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in India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242316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42316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2356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Digital Work Record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36576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65760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703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623560" y="42245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Credit Access for Most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 | Papola &amp; Sahu 2012 | ILO WESO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Research Papers  ·  6 Thematic Clusters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697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Informal Labour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 informal workforce, NITI Aayog, ILO Gig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3444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Digital Identity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6–10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Decentralised Identity, Verifiable Credentials, Digital Inclusion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Reputation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11–15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theory, rating portability, RBAC, OAuth 2.0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Platform Economy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16–20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 India, ILO framework, Rajasthan Act 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971800"/>
            <a:ext cx="2697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System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21–25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security, mobile UX, Zero Trust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971800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SDG &amp; Social Innovation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26–30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ICT4D, gender equity, financial inclusion, SDG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457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evidence-backed gaps in India's informal labour ecosystem — all unaddressed by any existing system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5486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" y="850392"/>
            <a:ext cx="2075688" cy="1664208"/>
          </a:xfrm>
          <a:prstGeom prst="rect">
            <a:avLst/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9456" y="850392"/>
            <a:ext cx="50292" cy="1664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1440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7472" y="1325880"/>
            <a:ext cx="1819656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624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Has Zero Digital Work Record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72821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10 Indian workers are informally employed with no verifiable, portable professional history — invisible to every formal system.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9456" y="2322576"/>
            <a:ext cx="2075688" cy="192024"/>
          </a:xfrm>
          <a:prstGeom prst="rect">
            <a:avLst/>
          </a:prstGeom>
          <a:solidFill>
            <a:srgbClr val="FDECE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322576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India Employment Report, 2024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386584" y="850392"/>
            <a:ext cx="2075688" cy="16642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86584" y="850392"/>
            <a:ext cx="50292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91440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2.3%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514600" y="1325880"/>
            <a:ext cx="1819656" cy="1828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624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Any Formal Skill Certification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172821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2.3% of India's workforce has formal skill training versus 96% in South Korea. Skills exist everywhere — recognised proof exists nowhere.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86584" y="2322576"/>
            <a:ext cx="2075688" cy="19202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2322576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MSDE National Skill Development Mission, 2024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53712" y="850392"/>
            <a:ext cx="2075688" cy="16642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850392"/>
            <a:ext cx="50292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91440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76%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681728" y="1325880"/>
            <a:ext cx="1819656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3624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All Social Security Cover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81728" y="172821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EPF, no ESI, no pension, no paid leave. Three-quarters of all informal workers have zero safety net — one medical crisis ends financial stability.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53712" y="2322576"/>
            <a:ext cx="2075688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322576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World Social Protection Report, 2022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20840" y="850392"/>
            <a:ext cx="2075688" cy="16642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0840" y="850392"/>
            <a:ext cx="50292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8856" y="91440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848856" y="1325880"/>
            <a:ext cx="1819656" cy="18288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13624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Cross-Employer Reputation System Exists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48856" y="172821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carries a worker's verified ratings from one employer to the next. Every job change resets trust to zero, permanently capping earning potential.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20840" y="2322576"/>
            <a:ext cx="2075688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2322576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(2021) · Jøsang et al. (2007) · Nofer et al. (2024)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9456" y="2606040"/>
            <a:ext cx="2075688" cy="1664208"/>
          </a:xfrm>
          <a:prstGeom prst="rect">
            <a:avLst/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19456" y="2606040"/>
            <a:ext cx="50292" cy="1664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80%+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347472" y="3081528"/>
            <a:ext cx="1819656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1181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Have No Written Contract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472" y="3483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80% of informal workers operate without any written agreement — making wage theft, wrongful dismissal and abuse structurally unresolvable.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9456" y="4078224"/>
            <a:ext cx="2075688" cy="192024"/>
          </a:xfrm>
          <a:prstGeom prst="rect">
            <a:avLst/>
          </a:prstGeom>
          <a:solidFill>
            <a:srgbClr val="FDECE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4078224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Journal of Legal Review, 2025 · Al Jazeera, 2025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386584" y="2606040"/>
            <a:ext cx="2075688" cy="16642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386584" y="2606040"/>
            <a:ext cx="50292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600" dirty="0"/>
          </a:p>
        </p:txBody>
      </p:sp>
      <p:sp>
        <p:nvSpPr>
          <p:cNvPr id="50" name="Shape 48"/>
          <p:cNvSpPr/>
          <p:nvPr/>
        </p:nvSpPr>
        <p:spPr>
          <a:xfrm>
            <a:off x="2514600" y="3081528"/>
            <a:ext cx="1819656" cy="1828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14600" y="31181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Receive Legal Minimum Wage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514600" y="3483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 ten construction workers in India were paid below the statutory minimum in 2022. Wage theft is not the exception — it is the norm.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386584" y="4078224"/>
            <a:ext cx="2075688" cy="19202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96312" y="4078224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India Labour Report, 2022 · IDR Analysis, 2025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53712" y="2606040"/>
            <a:ext cx="2075688" cy="166420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53712" y="2606040"/>
            <a:ext cx="50292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₹24/hr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4681728" y="3081528"/>
            <a:ext cx="1819656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31181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Workers Earn Half of Minimum Wage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681728" y="3483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domestic workers earn ₹24/hr; men earn ₹48/hr for equivalent work. Without verified skill records, negotiation for fair pay is impossible.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53712" y="4078224"/>
            <a:ext cx="2075688" cy="19202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078224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 Institute / IIHS Research, 2024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20840" y="2606040"/>
            <a:ext cx="2075688" cy="16642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720840" y="2606040"/>
            <a:ext cx="50292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48856" y="2670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100M+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6848856" y="3081528"/>
            <a:ext cx="1819656" cy="18288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48856" y="31181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Migrants Lose All Work History on Moving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848856" y="3483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over 100 million internal migrants. Each relocation wipes their entire professional record — no portability, no proof, no continuity of trust.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720840" y="4078224"/>
            <a:ext cx="2075688" cy="19202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30568" y="4078224"/>
            <a:ext cx="19293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Survey of India, 2020–21 · NSSO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19456" y="822960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818388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Safety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386584" y="822960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32888" y="818388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Exploitation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553712" y="822960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00016" y="818388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Rights Gaps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720840" y="82296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67144" y="818388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&amp; Systemic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44805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0896" y="475488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2064" y="475488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3232" y="47548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0" y="47548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70432" y="4535424"/>
            <a:ext cx="7699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Shramik-Profile is the first unified, phone-first platform to address all eight gaps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6E">
              <a:alpha val="50000"/>
            </a:srgbClr>
          </a:solidFill>
          <a:ln w="12700">
            <a:solidFill>
              <a:srgbClr val="1E3A6E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nation of 500 million skilled workers — invisible to the system that should serve them."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workforce — 85.8% of all workers — performs essential, skilled labour every day with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verifiable professional identity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documented work history. No portable reputation. No way to prove competence to a new employer.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small gap — it is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poverty trap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Workers cannot command fair wages without proof of skill. Employers cannot hire reliably without verified track records. The informal labour market is permanently stuck in a cycle of mutual distrust.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₹0 formal credit access, zero financial inclusion, and a generation of skilled workers who retire as poor as they started — not because they lacked ability, but because the system never gave them a voice.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1629"/>
          </a:solidFill>
          <a:ln w="12700">
            <a:solidFill>
              <a:srgbClr val="091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300M+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— Zero Digital Record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23.5M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 by 2030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 for Most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35608"/>
            <a:ext cx="438912" cy="438912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Portable Digital 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secure, phone-OTP-linked worker profile that travels across employers and cities — not bound to any platform or agency.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7004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Verified Rating System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employers to leave immutable, cryptographically-tied ratings anchored to real job transactions — the 'Verified' stamp that makes the Trust Resume credible.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1188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90448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04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Dual-Role Secure Architecture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402336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 RBAC system with distinct Worker and Employer roles — ensuring data integrity, privacy, and prevention of rating fraud.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43000"/>
            <a:ext cx="5486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43560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Mobile-First, Inclusive UI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04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mobile-responsive interface designed for low-literacy users — regional language support, icon-based navigation, 5-field onboarding in under 2 minutes.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267004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Financial &amp; Social Inclusion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04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verified work history into a financial passport — enabling workers to access microcredit, insurance, and government welfare schemes for the first time.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9-Week Target: Functional portal with worker profiles + employer verified rating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Things That Make Shramik-Profile Uniquely Powerful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A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First Portable Trust Resume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verified ratings follow them across every employer and city — anchored to their phone number, not any platform. Take it anywhere, forever.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115568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2801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1363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Employer-Verified, Immutable Ratings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employers who actually completed a job transaction can rate a worker. Once submitted, ratings cannot be deleted or edited — building an unfalsifiable record of excellence.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1155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115568"/>
            <a:ext cx="274320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28016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280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93992" y="12252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Dual-Role Architecture — No Conflicts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mathematically enforced RBAC system ensures Workers and Employers operate in separate secure lanes. No employer can manipulate a worker's profile. No worker can fabricate a rating.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94436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10896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the Invisible 90%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with ICT4D principles for low-literacy, low-connectivity users. 5-field onboarding in under 2 minutes. Works on entry-level Android. No email required — just a phone number.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944368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10896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1363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Passport Effect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33756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work history on Shramik-Profile becomes a credit proxy — enabling informal workers to access microloans, insurance, and welfare schemes for the first time in their lives.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944368"/>
            <a:ext cx="2743200" cy="1719072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944368"/>
            <a:ext cx="274320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108960"/>
            <a:ext cx="475488" cy="47548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93992" y="3054096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Owns the Data — Not the Platform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17920" y="3657600"/>
            <a:ext cx="24688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7307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every existing platform, the worker's profile belongs to the worker. They can export it, share it, or take it to any future employer. The data is theirs — not a commercial asset.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Development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Papers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5740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Model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9476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Mgmt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Ctrl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3212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2376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6948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374904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DB + RBAC Auth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OAuth 2.0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UI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Rating Engine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REAL-LIFE EFFECTIVENESS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Gig Worker Growth (India, Millions)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5087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Shramik-Profile Help?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002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645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 ·  Hyderabad → Mumbai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73168" y="1947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verified 5-star ratings to new city. Hired in 2 days instead of 6 weeks.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44144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441448"/>
            <a:ext cx="64008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24871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/ Electrician  ·  Any Tier-2 City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73168" y="27889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50-rating portfolio over 1 year. Uses work history to secure ₹50K micro-loan.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28269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282696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 ·  Pan-India Agencies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73168" y="3630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government-check record accelerates placement. No more repeated background processing.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4123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412394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4169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Housing Society  ·  End Consumer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73168" y="4471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verified workers with 4.5+ ratings. Zero guesswork hiring. Reduces turnover by 60%.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 WITH SDGs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— Our Direct 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200400" cy="3474720"/>
          </a:xfrm>
          <a:prstGeom prst="rect">
            <a:avLst/>
          </a:prstGeom>
          <a:solidFill>
            <a:srgbClr val="A21C1C"/>
          </a:solidFill>
          <a:ln w="12700">
            <a:solidFill>
              <a:srgbClr val="A2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25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 WORK &amp;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ALIGNMENT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8.3 · 8.5 · 8.8 · 8.10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18872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188720"/>
            <a:ext cx="1005840" cy="109728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88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  ·  No Poverty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 history → credit access → economic mobility for informal workers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231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423160"/>
            <a:ext cx="1005840" cy="1097280"/>
          </a:xfrm>
          <a:prstGeom prst="rect">
            <a:avLst/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23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749040" y="3017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13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10  ·  Reduced Inequalities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Equity-aware design counters caste/gender bias in hiring and ratings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3657600"/>
            <a:ext cx="1005840" cy="109728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657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74904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69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9  ·  Industry &amp; Innovation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33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filling the institutional void in informal labour markets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project does not merely align with SDGs — it operationalizes SDG 8 with a concrete technical system at grassroots scale."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3A6E">
              <a:alpha val="45000"/>
            </a:srgbClr>
          </a:solidFill>
          <a:ln w="12700">
            <a:solidFill>
              <a:srgbClr val="1E3A6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Shramik-Profile is not just a project.</a:t>
            </a:r>
            <a:endParaRPr lang="en-US" sz="3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infrastructure for dignity.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in Hyderabad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in Lucknow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in Mumbai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be able to say: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my verified work history. Here is my reputation. Here is my proof."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Reached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33472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 Goal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9744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9744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Verified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Resume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86016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Wks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86016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Functional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 (30 Papers Reviewed — Full Bibliography in Report)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Agarwala, R. (2008). Reshaping the Social Contract. WIEGO / CASI, UPenn.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(2022). India's Booming Gig and Platform Economy. Government of India.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Krishna, S. (2021). Digital Identity, Datafication and Social Justice. IT for Development, Taylor &amp; Francis.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Banerjee, S. (2016). Aadhaar: Digital Inclusion and Public Services. World Bank WDR Background Paper.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Mazzocca, C. et al. (2024). Survey on Decentralized Identifiers and Verifiable Credentials. IEEE / arXiv:2402.02455.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Jøsang, A., Ismail, R., Boyd, C. (2007). Survey of Trust and Reputation Systems. Decision Support Systems, Elsevier.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 / BMZ (2022). Digitalisation and the Indian Labour Market. German Development Cooperation.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(2023). World Employment and Social Outlook — SDG 8 Framework. International Labour Organization.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Nofer, M. et al. (2024). The Duality of Reputation Portability. Electronic Markets, Springer.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Srihita, R.H. et al. (2025). Transformative Dynamics of the Gig Economy. SAGE Open.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with 30 papers, DOIs and download links available in our complete research document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2026-03-13T14:13:29Z</dcterms:created>
  <dcterms:modified xsi:type="dcterms:W3CDTF">2026-03-13T14:13:29Z</dcterms:modified>
</cp:coreProperties>
</file>