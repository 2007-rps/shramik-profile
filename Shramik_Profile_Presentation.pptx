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Workers (Millions)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0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2023</c:v>
                  </c:pt>
                  <c:pt idx="2">
                    <c:v>2025</c:v>
                  </c:pt>
                  <c:pt idx="3">
                    <c:v>2027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</c:v>
                </c:pt>
                <c:pt idx="1">
                  <c:v>10.5</c:v>
                </c:pt>
                <c:pt idx="2">
                  <c:v>14.2</c:v>
                </c:pt>
                <c:pt idx="3">
                  <c:v>18.8</c:v>
                </c:pt>
                <c:pt idx="4">
                  <c:v>23.5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0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A3D6B">
              <a:alpha val="40000"/>
            </a:srgbClr>
          </a:solidFill>
          <a:ln w="12700">
            <a:solidFill>
              <a:srgbClr val="1A3D6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SHRAMIK-PROFILE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Identity for Labor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6974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 Aligned  ·  Social Innovation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20240" cy="128016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832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56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3383280"/>
            <a:ext cx="1920240" cy="128016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33832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3456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383280"/>
            <a:ext cx="1920240" cy="128016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3832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456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3383280"/>
            <a:ext cx="1920240" cy="128016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38328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4564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4800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Societal Internship Project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Shramik-Profile?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economy employs over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workers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domestic workers, plumbers, guards, cooks, and electricians who are the backbone of daily life.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Yet, not one of them carries a verifiable professional identity. They are skilled, essential — and completely invisible to formal systems.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A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Shramik-Profile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secure digital platform that gives every informal worker a portable, phone-linked profile with employer-verified ratings — their first-ever Digital Trust Resume.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0" y="11887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188720"/>
            <a:ext cx="64008" cy="10515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234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500M+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23560" y="17556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in India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0" y="242316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42316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623560" y="29900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No Digital Work Record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36576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657600"/>
            <a:ext cx="64008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7033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623560" y="42245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Credit Access for Most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 | Papola &amp; Sahu 2012 | ILO WESO 2023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Research Papers  ·  6 Thematic Clusters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2697480" cy="457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Informal Labour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1–5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85.8% informal workforce, NITI Aayog, ILO Gig Report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23444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Digital Identity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6–10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DID, E-Shram gap analysis, Verifiable Credentials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23444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Reputation Systems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7373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11–15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01168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theory, rating portability, RBAC, OAuth 2.0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71800"/>
            <a:ext cx="2697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Platform Economy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16–20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 India, ILO framework, Rajasthan Act 2023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2971800"/>
            <a:ext cx="2697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System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4612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21–25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security, mobile UX, Zero Trust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97180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971800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SDG &amp; Social Innovation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34747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26–30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749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ICT4D, gender equity, financial inclusion, SDG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GAP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IDENTIFIED GAPS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SHRAMIK-PROFILE FILLS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9164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 (GOI)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057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only — no employer interface, no ratings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88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108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Platform-locked reputation — workers can't take ratings elsewhere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3017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794760"/>
            <a:ext cx="54864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1605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problems (Krishna 2021, Agarwala 2008) — no technical implementation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560320"/>
            <a:ext cx="548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169164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737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180136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portable verified work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0" y="274320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285292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worker-owned digital profile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794760"/>
            <a:ext cx="21945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2626"/>
                </a:solidFill>
              </a:rPr>
              <a:t>⚠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86200" y="390448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cross-employer reputation system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169164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06440" y="169164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892808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309360" y="180136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Phone-linked portable profile travels with the worker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806440" y="274320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06440" y="274320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944368"/>
            <a:ext cx="365760" cy="36576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309360" y="285292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data with employer-verified ratings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5806440" y="3794760"/>
            <a:ext cx="301752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806440" y="3794760"/>
            <a:ext cx="54864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995928"/>
            <a:ext cx="365760" cy="36576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309360" y="390448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Cross-employer trust score — a real Digital Resume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3A6E">
              <a:alpha val="50000"/>
            </a:srgbClr>
          </a:solidFill>
          <a:ln w="12700">
            <a:solidFill>
              <a:srgbClr val="1E3A6E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nation of 500 million skilled workers — invisible to the system that should serve them."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informal workforce — 85.8% of all workers — performs essential, skilled labour every day with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verifiable professional identity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documented work history. No portable reputation. No way to prove competence to a new employer.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small gap — it is a 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poverty trap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Workers cannot command fair wages without proof of skill. Employers cannot hire reliably without verified track records. The informal labour market is permanently stuck in a cycle of mutual distrust.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₹0 formal credit access, zero financial inclusion, and a generation of skilled workers who retire as poor as they started — not because they lacked ability, but because the system never gave them a voice.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91629"/>
          </a:solidFill>
          <a:ln w="12700">
            <a:solidFill>
              <a:srgbClr val="0916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85.8%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Workforce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300M+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 IDs — 0 Ratings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23.5M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 Workers by 2030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78040" y="459028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78040" y="487375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Access for Most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0972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435608"/>
            <a:ext cx="438912" cy="438912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Portable Digital 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32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secure, phone-OTP-linked worker profile that travels across employers and cities — not bound to any platform or agency.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670048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 Verified Rating System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32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employers to leave immutable, cryptographically-tied ratings anchored to real job transactions — the 'Verified' stamp that makes the Trust Resume credible.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1188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904488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9044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6758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Dual-Role Secure Architecture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32688" y="402336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robust RBAC system with distinct Worker and Employer roles — ensuring data integrity, privacy, and prevention of rating fraud.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143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143000"/>
            <a:ext cx="54864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143560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1435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120700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Mobile-First, Inclusive UI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04688" y="155448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mobile-responsive interface designed for low-literacy users — regional language support, icon-based navigation, 5-field onboarding in under 2 minutes.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377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2377440"/>
            <a:ext cx="54864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267004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04688" y="244144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 Financial &amp; Social Inclusion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04688" y="2788920"/>
            <a:ext cx="34564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verified work history into a financial passport — enabling workers to access microcredit, insurance, and government welfare schemes for the first time.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9-Week Target: Functional portal with worker profiles + employer verified rating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5486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NOVELTIES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Shramik-Profile Different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143000"/>
            <a:ext cx="1371600" cy="4572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E-Shram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1143000"/>
            <a:ext cx="1371600" cy="45720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43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1430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Shramik-Profile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600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Identity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1600200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31920" y="1600200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600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49240" y="1600200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084832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084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Reputation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208483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20848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31920" y="208483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0848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49240" y="2084832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2084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569464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56946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Employer-Verified Ratings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14600" y="2569464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2569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31920" y="2569464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256946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49240" y="2569464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256946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054096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05409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Worker-Owned Data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14600" y="305409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14600" y="3054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931920" y="305409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31920" y="30540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349240" y="3054096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30540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538728"/>
            <a:ext cx="219456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35387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Non-Platform Workers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14600" y="3538728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14600" y="3538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931920" y="3538728"/>
            <a:ext cx="1371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3538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349240" y="3538728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3538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Link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14600" y="40233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931920" y="402336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4023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49240" y="4023360"/>
            <a:ext cx="20116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4924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452360" y="1188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Core Novelties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406640" y="1691640"/>
            <a:ext cx="155448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7406640" y="1783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 Trust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406640" y="2194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follows worker, not platform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06640" y="2770632"/>
            <a:ext cx="155448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406640" y="286207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Verified Stamps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406640" y="32735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employers can rate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406640" y="3849624"/>
            <a:ext cx="155448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7406640" y="3941064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ICT4D Design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406640" y="435254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low-literacy mobile users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Development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Lit. Review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Papers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1168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5740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Model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4904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9476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Mgmt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Ctrl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53212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95160" y="2267712"/>
            <a:ext cx="20116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148840"/>
            <a:ext cx="9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23760" y="1188720"/>
            <a:ext cx="1508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1887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269480" y="182880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UI/UX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2514600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3749040"/>
            <a:ext cx="91440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DB + RBAC Auth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6888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+ OAuth 2.0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Responsive UI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42519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Rating Engine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REAL-LIFE EFFECTIVENESS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Gig Worker Growth (India, Millions)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5087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114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NITI Aayog 2022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66344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Does Shramik-Profile Help?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60020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6002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73168" y="16459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 ·  Hyderabad → Mumbai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773168" y="1947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verified 5-star ratings to new city. Hired in 2 days instead of 6 weeks.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244144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441448"/>
            <a:ext cx="64008" cy="74980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24871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/ Electrician  ·  Any Tier-2 City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73168" y="278892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50-rating portfolio over 1 year. Uses work history to secure ₹50K micro-loan.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663440" y="328269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282696"/>
            <a:ext cx="6400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3168" y="33284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 ·  Pan-India Agencies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73168" y="3630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government-check record accelerates placement. No more repeated background processing.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412394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4123944"/>
            <a:ext cx="6400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73168" y="41696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Housing Society  ·  End Consumer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73168" y="4471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verified workers with 4.5+ ratings. Zero guesswork hiring. Reduces turnover by 60%.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ALIGNMENT WITH SDGs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— Our Direct Impact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200400" cy="3474720"/>
          </a:xfrm>
          <a:prstGeom prst="rect">
            <a:avLst/>
          </a:prstGeom>
          <a:solidFill>
            <a:srgbClr val="A21C1C"/>
          </a:solidFill>
          <a:ln w="12700">
            <a:solidFill>
              <a:srgbClr val="A2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25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274320" y="32004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DECENT WORK &amp;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ECONOMIC GROWTH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ALIGNMENT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8.3 · 8.5 · 8.8 · 8.10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18872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188720"/>
            <a:ext cx="1005840" cy="1097280"/>
          </a:xfrm>
          <a:prstGeom prst="rect">
            <a:avLst/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18872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749040" y="17830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POVERTY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0" y="12801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2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  ·  No Poverty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66420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work history → credit access → economic mobility for informal workers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242316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2423160"/>
            <a:ext cx="1005840" cy="1097280"/>
          </a:xfrm>
          <a:prstGeom prst="rect">
            <a:avLst/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4231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749040" y="301752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13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10  ·  Reduced Inequalities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89864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Equity-aware design counters caste/gender bias in hiring and ratings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49040" y="3657600"/>
            <a:ext cx="51206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749040" y="3657600"/>
            <a:ext cx="1005840" cy="1097280"/>
          </a:xfrm>
          <a:prstGeom prst="rect">
            <a:avLst/>
          </a:prstGeom>
          <a:solidFill>
            <a:srgbClr val="FD6925"/>
          </a:solidFill>
          <a:ln w="12700">
            <a:solidFill>
              <a:srgbClr val="FD69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65760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3749040" y="42519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69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9  ·  Industry &amp; Innovation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413308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infrastructure filling the institutional void in informal labour markets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project does not merely align with SDGs — it operationalizes SDG 8 with a concrete technical system at grassroots scale."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E3A6E">
              <a:alpha val="45000"/>
            </a:srgbClr>
          </a:solidFill>
          <a:ln w="12700">
            <a:solidFill>
              <a:srgbClr val="1E3A6E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Shramik-Profile is not just a project.</a:t>
            </a:r>
            <a:endParaRPr lang="en-US" sz="3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infrastructure for dignity.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worker in Hyderabad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plumber in Lucknow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 in Mumbai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be able to say: </a:t>
            </a:r>
            <a:pPr indent="0" marL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my verified work history. Here is my reputation. Here is my proof."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Reached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(Potential)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33472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SDG 8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633472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UN Goal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9744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9744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1st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9744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Verified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Resume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86016" y="3383280"/>
            <a:ext cx="1920240" cy="1371600"/>
          </a:xfrm>
          <a:prstGeom prst="rect">
            <a:avLst/>
          </a:prstGeom>
          <a:solidFill>
            <a:srgbClr val="162744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3383280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86016" y="345643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Wks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86016" y="40690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Functional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 (30 Papers Reviewed — Full Bibliography in Report)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0" y="91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Agarwala, R. (2008). Reshaping the Social Contract. WIEGO / CASI, UPenn.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 (2022). India's Booming Gig and Platform Economy. Government of India.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Krishna, S. (2021). Digital Identity, Datafication and Social Justice. IT for Development, Taylor &amp; Francis.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Banerjee, S. (2016). Aadhaar: Digital Inclusion and Public Services. World Bank WDR Background Paper.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Mazzocca, C. et al. (2024). Survey on Decentralized Identifiers and Verifiable Credentials. IEEE / arXiv:2402.02455.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188720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1887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124358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Jøsang, A., Ismail, R., Boyd, C. (2007). Survey of Trust and Reputation Systems. Decision Support Systems, Elsevier.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901952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0195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1956816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 / BMZ (2022). Digitalisation and the Indian Labour Market. German Development Cooperation.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615184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61518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267004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 (2023). World Employment and Social Outlook — SDG 8 Framework. International Labour Organization.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328416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32841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33832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Nofer, M. et al. (2024). The Duality of Reputation Portability. Electronic Markets, Springer.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041648"/>
            <a:ext cx="4251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41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409651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Srihita, R.H. et al. (2025). Transformative Dynamics of the Gig Economy. SAGE Open.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bibliography with 30 papers, DOIs and download links available in our complete research document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2026-03-11T06:37:49Z</dcterms:created>
  <dcterms:modified xsi:type="dcterms:W3CDTF">2026-03-11T06:37:49Z</dcterms:modified>
</cp:coreProperties>
</file>